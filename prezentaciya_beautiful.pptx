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01 / 09</a:t>
            </a:r>
          </a:p>
        </p:txBody>
      </p:sp>
      <p:pic>
        <p:nvPicPr>
          <p:cNvPr id="7" name="Picture 6" descr="slide_photo_0.jpg"/>
          <p:cNvPicPr>
            <a:picLocks noChangeAspect="1"/>
          </p:cNvPicPr>
          <p:nvPr/>
        </p:nvPicPr>
        <p:blipFill>
          <a:blip r:embed="rId2"/>
          <a:srcRect l="22280" r="22280"/>
          <a:stretch>
            <a:fillRect/>
          </a:stretch>
        </p:blipFill>
        <p:spPr>
          <a:xfrm>
            <a:off x="5623560" y="0"/>
            <a:ext cx="6565392" cy="6446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6217920" cy="6455664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15568"/>
            <a:ext cx="868680" cy="7315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417320"/>
            <a:ext cx="5486400" cy="2057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5700" b="1">
                <a:solidFill>
                  <a:srgbClr val="FFFFFF"/>
                </a:solidFill>
                <a:latin typeface="Aptos"/>
              </a:defRPr>
            </a:pPr>
            <a:r>
              <a:t>DISCOVER</a:t>
            </a:r>
          </a:p>
          <a:p>
            <a:pPr>
              <a:spcAft>
                <a:spcPts val="1000"/>
              </a:spcAft>
              <a:defRPr sz="5700" b="1">
                <a:solidFill>
                  <a:srgbClr val="FFFFFF"/>
                </a:solidFill>
                <a:latin typeface="Aptos"/>
              </a:defRPr>
            </a:pPr>
            <a:r>
              <a:t>ATYRAU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730752"/>
            <a:ext cx="53035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EEB553"/>
                </a:solidFill>
                <a:latin typeface="Aptos"/>
              </a:defRPr>
            </a:pPr>
            <a:r>
              <a:t>Where Europe and Asia Meet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4663440"/>
            <a:ext cx="530352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CF4FA"/>
                </a:solidFill>
                <a:latin typeface="Aptos"/>
              </a:defRPr>
            </a:pPr>
            <a:r>
              <a:t>A multimedia tourism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5806440"/>
            <a:ext cx="5303520" cy="2926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ACC3D6"/>
                </a:solidFill>
                <a:latin typeface="Aptos"/>
              </a:defRPr>
            </a:pPr>
            <a:r>
              <a:t>TAUMAN SAIDA   •   PO 1-24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A CITY WITH TWO CONTINENTS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02 / 09</a:t>
            </a:r>
          </a:p>
        </p:txBody>
      </p:sp>
      <p:pic>
        <p:nvPicPr>
          <p:cNvPr id="8" name="Picture 7" descr="slide_photo_0.jpg"/>
          <p:cNvPicPr>
            <a:picLocks noChangeAspect="1"/>
          </p:cNvPicPr>
          <p:nvPr/>
        </p:nvPicPr>
        <p:blipFill>
          <a:blip r:embed="rId2"/>
          <a:srcRect l="21256" r="21256"/>
          <a:stretch>
            <a:fillRect/>
          </a:stretch>
        </p:blipFill>
        <p:spPr>
          <a:xfrm>
            <a:off x="6492240" y="1115568"/>
            <a:ext cx="5166360" cy="4892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" y="1325880"/>
            <a:ext cx="5303520" cy="38404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EB553"/>
                </a:solidFill>
                <a:latin typeface="Aptos"/>
              </a:defRPr>
            </a:pPr>
            <a:r>
              <a:t>WESTERN KAZAKHSTAN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74519"/>
            <a:ext cx="516636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Atyrau is a lively city on the Ural River, close to the Caspian Sea.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4014215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886200"/>
            <a:ext cx="4983480" cy="5394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An important cultural centre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460857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480560"/>
            <a:ext cx="4983480" cy="5394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Known for energy and industry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520293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5074920"/>
            <a:ext cx="4983480" cy="5394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A gateway to regional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WHY ATYRAU IS SPECIAL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529584" cy="4242816"/>
          </a:xfrm>
          <a:prstGeom prst="roundRect">
            <a:avLst>
              <a:gd name="adj" fmla="val 12000"/>
            </a:avLst>
          </a:prstGeom>
          <a:solidFill>
            <a:srgbClr val="14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73936"/>
            <a:ext cx="1828800" cy="6583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EEB5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30175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TWO CONTINENTS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03320"/>
            <a:ext cx="292608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CF4FA"/>
                </a:solidFill>
                <a:latin typeface="Aptos"/>
              </a:defRPr>
            </a:pPr>
            <a:r>
              <a:t>A symbolic meeting point of Europe and Asia.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481328"/>
            <a:ext cx="3529584" cy="4242816"/>
          </a:xfrm>
          <a:prstGeom prst="roundRect">
            <a:avLst>
              <a:gd name="adj" fmla="val 12000"/>
            </a:avLst>
          </a:prstGeom>
          <a:solidFill>
            <a:srgbClr val="14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773936"/>
            <a:ext cx="1828800" cy="6583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EEB5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807208"/>
            <a:ext cx="30175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RIVER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703320"/>
            <a:ext cx="292608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CF4FA"/>
                </a:solidFill>
                <a:latin typeface="Aptos"/>
              </a:defRPr>
            </a:pPr>
            <a:r>
              <a:t>Bridges, riverside walks and scenic sunsets.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481328"/>
            <a:ext cx="3529584" cy="4242816"/>
          </a:xfrm>
          <a:prstGeom prst="roundRect">
            <a:avLst>
              <a:gd name="adj" fmla="val 12000"/>
            </a:avLst>
          </a:prstGeom>
          <a:solidFill>
            <a:srgbClr val="14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773936"/>
            <a:ext cx="1828800" cy="6583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EEB5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807208"/>
            <a:ext cx="30175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LOCAL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703320"/>
            <a:ext cx="292608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CF4FA"/>
                </a:solidFill>
                <a:latin typeface="Aptos"/>
              </a:defRPr>
            </a:pPr>
            <a:r>
              <a:t>Traditions, history and warm hospitality.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5 PLACES TO EXPLORE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98448"/>
            <a:ext cx="6537960" cy="722376"/>
          </a:xfrm>
          <a:prstGeom prst="roundRect">
            <a:avLst>
              <a:gd name="adj" fmla="val 12000"/>
            </a:avLst>
          </a:prstGeom>
          <a:solidFill>
            <a:srgbClr val="16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08176"/>
            <a:ext cx="50292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EB55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35607"/>
            <a:ext cx="534924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Ural River Embankment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03704"/>
            <a:ext cx="6537960" cy="722376"/>
          </a:xfrm>
          <a:prstGeom prst="roundRect">
            <a:avLst>
              <a:gd name="adj" fmla="val 12000"/>
            </a:avLst>
          </a:prstGeom>
          <a:solidFill>
            <a:srgbClr val="16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313432"/>
            <a:ext cx="50292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EB55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340864"/>
            <a:ext cx="534924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Regional History Museum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6537960" cy="722376"/>
          </a:xfrm>
          <a:prstGeom prst="roundRect">
            <a:avLst>
              <a:gd name="adj" fmla="val 12000"/>
            </a:avLst>
          </a:prstGeom>
          <a:solidFill>
            <a:srgbClr val="16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218688"/>
            <a:ext cx="50292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EB55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246120"/>
            <a:ext cx="534924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Imangali Mosque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14215"/>
            <a:ext cx="6537960" cy="722376"/>
          </a:xfrm>
          <a:prstGeom prst="roundRect">
            <a:avLst>
              <a:gd name="adj" fmla="val 12000"/>
            </a:avLst>
          </a:prstGeom>
          <a:solidFill>
            <a:srgbClr val="16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123944"/>
            <a:ext cx="50292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EB5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151376"/>
            <a:ext cx="534924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Pedestrian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19472"/>
            <a:ext cx="6537960" cy="722376"/>
          </a:xfrm>
          <a:prstGeom prst="roundRect">
            <a:avLst>
              <a:gd name="adj" fmla="val 12000"/>
            </a:avLst>
          </a:prstGeom>
          <a:solidFill>
            <a:srgbClr val="163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029200"/>
            <a:ext cx="50292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EB55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056632"/>
            <a:ext cx="534924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Isatay and Makhambet Square</a:t>
            </a:r>
          </a:p>
        </p:txBody>
      </p:sp>
      <p:pic>
        <p:nvPicPr>
          <p:cNvPr id="23" name="Picture 22" descr="slide_photo_1.jpg"/>
          <p:cNvPicPr>
            <a:picLocks noChangeAspect="1"/>
          </p:cNvPicPr>
          <p:nvPr/>
        </p:nvPicPr>
        <p:blipFill>
          <a:blip r:embed="rId2"/>
          <a:srcRect l="982" r="982"/>
          <a:stretch>
            <a:fillRect/>
          </a:stretch>
        </p:blipFill>
        <p:spPr>
          <a:xfrm>
            <a:off x="7571231" y="1298448"/>
            <a:ext cx="3904487" cy="2240280"/>
          </a:xfrm>
          <a:prstGeom prst="rect">
            <a:avLst/>
          </a:prstGeom>
        </p:spPr>
      </p:pic>
      <p:pic>
        <p:nvPicPr>
          <p:cNvPr id="24" name="Picture 23" descr="slide_photo_2.jpg"/>
          <p:cNvPicPr>
            <a:picLocks noChangeAspect="1"/>
          </p:cNvPicPr>
          <p:nvPr/>
        </p:nvPicPr>
        <p:blipFill>
          <a:blip r:embed="rId3"/>
          <a:srcRect l="3687" r="3687"/>
          <a:stretch>
            <a:fillRect/>
          </a:stretch>
        </p:blipFill>
        <p:spPr>
          <a:xfrm>
            <a:off x="7571231" y="3694176"/>
            <a:ext cx="3904487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ATYRAU THROUGH THE SEASONS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179576"/>
            <a:ext cx="7662672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527048"/>
            <a:ext cx="7178040" cy="4279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1481328"/>
            <a:ext cx="30632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EEB553"/>
                </a:solidFill>
                <a:latin typeface="Aptos"/>
              </a:defRPr>
            </a:pPr>
            <a:r>
              <a:t>HOT SUMMERS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423160"/>
            <a:ext cx="306324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COLD WINTERS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511296"/>
            <a:ext cx="2971800" cy="2057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CF4FA"/>
                </a:solidFill>
                <a:latin typeface="Aptos"/>
              </a:defRPr>
            </a:pPr>
            <a:r>
              <a:t>The chart shows illustrative monthly temperatures for a classroom exercise, not verified historical observations.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OUR TOURISM POSTER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06 / 09</a:t>
            </a:r>
          </a:p>
        </p:txBody>
      </p:sp>
      <p:pic>
        <p:nvPicPr>
          <p:cNvPr id="8" name="Picture 7" descr="afisha.png"/>
          <p:cNvPicPr>
            <a:picLocks noChangeAspect="1"/>
          </p:cNvPicPr>
          <p:nvPr/>
        </p:nvPicPr>
        <p:blipFill>
          <a:blip r:embed="rId2"/>
          <a:srcRect l="8213" r="8213"/>
          <a:stretch>
            <a:fillRect/>
          </a:stretch>
        </p:blipFill>
        <p:spPr>
          <a:xfrm>
            <a:off x="685800" y="1115568"/>
            <a:ext cx="7635240" cy="5138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0" y="1536192"/>
            <a:ext cx="3017520" cy="1645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EEB553"/>
                </a:solidFill>
                <a:latin typeface="Aptos"/>
              </a:defRPr>
            </a:pPr>
            <a:r>
              <a:t>DISCOVER</a:t>
            </a:r>
          </a:p>
          <a:p>
            <a:pPr>
              <a:spcAft>
                <a:spcPts val="1000"/>
              </a:spcAft>
              <a:defRPr sz="3200" b="1">
                <a:solidFill>
                  <a:srgbClr val="EEB553"/>
                </a:solidFill>
                <a:latin typeface="Aptos"/>
              </a:defRPr>
            </a:pPr>
            <a:r>
              <a:t>ATYRAU!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438144"/>
            <a:ext cx="2926080" cy="21031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Blue and gold colours</a:t>
            </a:r>
          </a:p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Photo collage</a:t>
            </a:r>
          </a:p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Strong headline</a:t>
            </a:r>
          </a:p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Visual storytelling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HOW THE PROJECT WAS CREATED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5340096" cy="1965960"/>
          </a:xfrm>
          <a:prstGeom prst="roundRect">
            <a:avLst>
              <a:gd name="adj" fmla="val 12000"/>
            </a:avLst>
          </a:prstGeom>
          <a:solidFill>
            <a:srgbClr val="14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1691640"/>
            <a:ext cx="73152" cy="126187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1682496"/>
            <a:ext cx="443484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EEB553"/>
                </a:solidFill>
                <a:latin typeface="Aptos"/>
              </a:defRPr>
            </a:pPr>
            <a:r>
              <a:t>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313432"/>
            <a:ext cx="4480560" cy="7498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Brochure, text and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371600"/>
            <a:ext cx="5340096" cy="1965960"/>
          </a:xfrm>
          <a:prstGeom prst="roundRect">
            <a:avLst>
              <a:gd name="adj" fmla="val 12000"/>
            </a:avLst>
          </a:prstGeom>
          <a:solidFill>
            <a:srgbClr val="14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56832" y="1691640"/>
            <a:ext cx="73152" cy="126187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0296" y="1682496"/>
            <a:ext cx="443484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EEB553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6" y="2313432"/>
            <a:ext cx="4480560" cy="7498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Formulas and climate chart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57600"/>
            <a:ext cx="5340096" cy="1965960"/>
          </a:xfrm>
          <a:prstGeom prst="roundRect">
            <a:avLst>
              <a:gd name="adj" fmla="val 12000"/>
            </a:avLst>
          </a:prstGeom>
          <a:solidFill>
            <a:srgbClr val="14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1832" y="3977639"/>
            <a:ext cx="73152" cy="126187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3968496"/>
            <a:ext cx="443484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EEB553"/>
                </a:solidFill>
                <a:latin typeface="Aptos"/>
              </a:defRPr>
            </a:pPr>
            <a:r>
              <a:t>IMAGE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599432"/>
            <a:ext cx="4480560" cy="7498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Photo collage and colour effects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3657600"/>
            <a:ext cx="5340096" cy="1965960"/>
          </a:xfrm>
          <a:prstGeom prst="roundRect">
            <a:avLst>
              <a:gd name="adj" fmla="val 12000"/>
            </a:avLst>
          </a:prstGeom>
          <a:solidFill>
            <a:srgbClr val="1433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3977639"/>
            <a:ext cx="73152" cy="126187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3968496"/>
            <a:ext cx="443484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EEB553"/>
                </a:solidFill>
                <a:latin typeface="Aptos"/>
              </a:defRPr>
            </a:pPr>
            <a:r>
              <a:t>POWERPOINT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4599432"/>
            <a:ext cx="4480560" cy="7498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Slides and visual storytelling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WHY VISIT ATYRAU?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08 / 09</a:t>
            </a:r>
          </a:p>
        </p:txBody>
      </p:sp>
      <p:pic>
        <p:nvPicPr>
          <p:cNvPr id="8" name="Picture 7" descr="slide_photo_0.jpg"/>
          <p:cNvPicPr>
            <a:picLocks noChangeAspect="1"/>
          </p:cNvPicPr>
          <p:nvPr/>
        </p:nvPicPr>
        <p:blipFill>
          <a:blip r:embed="rId2"/>
          <a:srcRect l="23079" r="23079"/>
          <a:stretch>
            <a:fillRect/>
          </a:stretch>
        </p:blipFill>
        <p:spPr>
          <a:xfrm>
            <a:off x="6565392" y="1097280"/>
            <a:ext cx="4974336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" y="1536192"/>
            <a:ext cx="5577840" cy="1508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A CITY WORTH</a:t>
            </a:r>
          </a:p>
          <a:p>
            <a:pPr>
              <a:spcAft>
                <a:spcPts val="10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DISCOVERING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831335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703320"/>
            <a:ext cx="5029200" cy="603503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Beautiful river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489703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361688"/>
            <a:ext cx="5029200" cy="603503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Rich culture and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14807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5020056"/>
            <a:ext cx="5029200" cy="603503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Modern life and local character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93192"/>
            <a:ext cx="91440" cy="393192"/>
          </a:xfrm>
          <a:prstGeom prst="rect">
            <a:avLst/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56616"/>
            <a:ext cx="10424160" cy="5486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SOURCES &amp; PROJECT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30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ACC3D6"/>
                </a:solidFill>
                <a:latin typeface="Aptos"/>
              </a:defRPr>
            </a:pPr>
            <a:r>
              <a:t>ATYRAU  /  TOURISM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r">
              <a:spcAft>
                <a:spcPts val="1000"/>
              </a:spcAft>
              <a:defRPr sz="1000" b="1">
                <a:solidFill>
                  <a:srgbClr val="EEB553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353312"/>
            <a:ext cx="548640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EB553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6712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10515600" cy="6949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Encyclopaedia Britannica — britannica.com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1693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10515600" cy="6949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Kazakhstan tourism — visitkazakhstan.kz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6674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38728"/>
            <a:ext cx="10515600" cy="6949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Climate chart — illustrative educational values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16551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EB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10515600" cy="694944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Poster visuals — AI-generated and edited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5605272"/>
            <a:ext cx="10652760" cy="502920"/>
          </a:xfrm>
          <a:prstGeom prst="roundRect">
            <a:avLst>
              <a:gd name="adj" fmla="val 12000"/>
            </a:avLst>
          </a:prstGeom>
          <a:solidFill>
            <a:srgbClr val="18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687568"/>
            <a:ext cx="9875520" cy="31089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Thank you for exploring Atyrau!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